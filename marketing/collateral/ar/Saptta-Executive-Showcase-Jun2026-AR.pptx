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ns0="http://schemas.openxmlformats.org/wordprocessingml/2006/main" ns0:rtl="1">
              <a:defRPr sz="3600" b="1">
                <a:solidFill>
                  <a:srgbClr val="FFFFFF"/>
                </a:solidFill>
                <a:latin typeface="Arial"/>
              </a:defRPr>
            </a:pPr>
            <a:r>
              <a:t>منصة واحدة للأفراد والمال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9144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xmlns:ns1="http://schemas.openxmlformats.org/wordprocessingml/2006/main" ns1:rtl="1">
              <a:defRPr sz="1800" b="0">
                <a:solidFill>
                  <a:srgbClr val="93C5FD"/>
                </a:solidFill>
                <a:latin typeface="Arial"/>
              </a:defRPr>
            </a:pPr>
            <a:r>
              <a:t>صبّتا HRMS + Accounts — workforce ومحاسبة امتثال بتسجيل دخول واحد.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rial"/>
              </a:defRPr>
            </a:pPr>
            <a:r>
              <a:t>صبّتا · عرض تنفيذي · 1/12 · يونيو 2026 · EN: ../en/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xmlns:ns0="http://schemas.openxmlformats.org/wordprocessingml/2006/main" ns0:rtl="1">
              <a:defRPr sz="2600" b="1">
                <a:solidFill>
                  <a:srgbClr val="0F172A"/>
                </a:solidFill>
                <a:latin typeface="Arial"/>
              </a:defRPr>
            </a:pPr>
            <a:r>
              <a:t>انفصال HR والمالية يضيع أسابيع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xmlns:ns1="http://schemas.openxmlformats.org/wordprocessingml/2006/main" ns1:rtl="1">
              <a:defRPr sz="1700" b="0">
                <a:solidFill>
                  <a:srgbClr val="64748B"/>
                </a:solidFill>
                <a:latin typeface="Arial"/>
              </a:defRPr>
            </a:pPr>
            <a:r>
              <a:t>رواتب في أداة وتصدير آخر للمحاسبة</a:t>
            </a:r>
          </a:p>
          <a:p>
            <a:pPr xmlns:ns2="http://schemas.openxmlformats.org/wordprocessingml/2006/main" ns2:rtl="1">
              <a:defRPr sz="1700" b="0">
                <a:solidFill>
                  <a:srgbClr val="64748B"/>
                </a:solidFill>
                <a:latin typeface="Arial"/>
              </a:defRPr>
            </a:pPr>
            <a:r>
              <a:t>إجازات لا تطابق الحضور</a:t>
            </a:r>
          </a:p>
          <a:p>
            <a:pPr xmlns:ns3="http://schemas.openxmlformats.org/wordprocessingml/2006/main" ns3:rtl="1">
              <a:defRPr sz="1700" b="0">
                <a:solidFill>
                  <a:srgbClr val="64748B"/>
                </a:solidFill>
                <a:latin typeface="Arial"/>
              </a:defRPr>
            </a:pPr>
            <a:r>
              <a:t>مديرون يراسلون HR بلا تدقيق</a:t>
            </a:r>
          </a:p>
          <a:p>
            <a:pPr xmlns:ns4="http://schemas.openxmlformats.org/wordprocessingml/2006/main" ns4:rtl="1">
              <a:defRPr sz="1700" b="0">
                <a:solidFill>
                  <a:srgbClr val="64748B"/>
                </a:solidFill>
                <a:latin typeface="Arial"/>
              </a:defRPr>
            </a:pPr>
            <a:r>
              <a:t>صبّتا: سجل واحد وخدمة ذاتية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rial"/>
              </a:defRPr>
            </a:pPr>
            <a:r>
              <a:t>صبّتا · عرض تنفيذي · 2/12 · يونيو 2026 · EN: ../en/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xmlns:ns0="http://schemas.openxmlformats.org/wordprocessingml/2006/main" ns0:rtl="1">
              <a:defRPr sz="2600" b="1">
                <a:solidFill>
                  <a:srgbClr val="0F172A"/>
                </a:solidFill>
                <a:latin typeface="Arial"/>
              </a:defRPr>
            </a:pPr>
            <a:r>
              <a:t>صبّتا في لمحة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xmlns:ns1="http://schemas.openxmlformats.org/wordprocessingml/2006/main" ns1:rtl="1">
              <a:defRPr sz="1700" b="0">
                <a:solidFill>
                  <a:srgbClr val="64748B"/>
                </a:solidFill>
                <a:latin typeface="Arial"/>
              </a:defRPr>
            </a:pPr>
            <a:r>
              <a:t>HRMS — 59$/شهر — موارد، وقت، رواتب، أداء</a:t>
            </a:r>
          </a:p>
          <a:p>
            <a:pPr xmlns:ns2="http://schemas.openxmlformats.org/wordprocessingml/2006/main" ns2:rtl="1">
              <a:defRPr sz="1700" b="0">
                <a:solidFill>
                  <a:srgbClr val="64748B"/>
                </a:solidFill>
                <a:latin typeface="Arial"/>
              </a:defRPr>
            </a:pPr>
            <a:r>
              <a:t>Accounts — 59$/شهر — فواتير، GST، Tally</a:t>
            </a:r>
          </a:p>
          <a:p>
            <a:pPr xmlns:ns3="http://schemas.openxmlformats.org/wordprocessingml/2006/main" ns3:rtl="1">
              <a:defRPr sz="1700" b="0">
                <a:solidFill>
                  <a:srgbClr val="64748B"/>
                </a:solidFill>
                <a:latin typeface="Arial"/>
              </a:defRPr>
            </a:pPr>
            <a:r>
              <a:t>Complete — 95$/شهر — توفير 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rial"/>
              </a:defRPr>
            </a:pPr>
            <a:r>
              <a:t>صبّتا · عرض تنفيذي · 3/12 · يونيو 2026 · EN: ../en/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xmlns:ns0="http://schemas.openxmlformats.org/wordprocessingml/2006/main" ns0:rtl="1">
              <a:defRPr sz="2600" b="1">
                <a:solidFill>
                  <a:srgbClr val="0F172A"/>
                </a:solidFill>
                <a:latin typeface="Arial"/>
              </a:defRPr>
            </a:pPr>
            <a:r>
              <a:t>من نخدم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xmlns:ns1="http://schemas.openxmlformats.org/wordprocessingml/2006/main" ns1:rtl="1">
              <a:defRPr sz="1700" b="0">
                <a:solidFill>
                  <a:srgbClr val="64748B"/>
                </a:solidFill>
                <a:latin typeface="Arial"/>
              </a:defRPr>
            </a:pPr>
            <a:r>
              <a:t>الهند: PF/ESI/TDS/Form 16</a:t>
            </a:r>
          </a:p>
          <a:p>
            <a:pPr xmlns:ns2="http://schemas.openxmlformats.org/wordprocessingml/2006/main" ns2:rtl="1">
              <a:defRPr sz="1700" b="0">
                <a:solidFill>
                  <a:srgbClr val="64748B"/>
                </a:solidFill>
                <a:latin typeface="Arial"/>
              </a:defRPr>
            </a:pPr>
            <a:r>
              <a:t>الخليج: HR كامل + رواتب PIFSS و indemnity</a:t>
            </a:r>
          </a:p>
          <a:p>
            <a:pPr xmlns:ns3="http://schemas.openxmlformats.org/wordprocessingml/2006/main" ns3:rtl="1">
              <a:defRPr sz="1700" b="0">
                <a:solidFill>
                  <a:srgbClr val="64748B"/>
                </a:solidFill>
                <a:latin typeface="Arial"/>
              </a:defRPr>
            </a:pPr>
            <a:r>
              <a:t>تقنية، تصنيع، تجزئة، خدمات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rial"/>
              </a:defRPr>
            </a:pPr>
            <a:r>
              <a:t>صبّتا · عرض تنفيذي · 4/12 · يونيو 2026 · EN: ../en/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xmlns:ns0="http://schemas.openxmlformats.org/wordprocessingml/2006/main" ns0:rtl="1">
              <a:defRPr sz="2600" b="1">
                <a:solidFill>
                  <a:srgbClr val="0F172A"/>
                </a:solidFill>
                <a:latin typeface="Arial"/>
              </a:defRPr>
            </a:pPr>
            <a:r>
              <a:t>من التوظيف حتى نهاية الخدمة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xmlns:ns1="http://schemas.openxmlformats.org/wordprocessingml/2006/main" ns1:rtl="1">
              <a:defRPr sz="1700" b="0">
                <a:solidFill>
                  <a:srgbClr val="64748B"/>
                </a:solidFill>
                <a:latin typeface="Arial"/>
              </a:defRPr>
            </a:pPr>
            <a:r>
              <a:t>توظيف · انضمام · تشغيل · رواتب · أداء · مغادرة</a:t>
            </a:r>
          </a:p>
          <a:p>
            <a:pPr xmlns:ns2="http://schemas.openxmlformats.org/wordprocessingml/2006/main" ns2:rtl="1">
              <a:defRPr sz="1700" b="0">
                <a:solidFill>
                  <a:srgbClr val="64748B"/>
                </a:solidFill>
                <a:latin typeface="Arial"/>
              </a:defRPr>
            </a:pPr>
            <a:r>
              <a:t>ATS وصفحات careers و AI</a:t>
            </a:r>
          </a:p>
          <a:p>
            <a:pPr xmlns:ns3="http://schemas.openxmlformats.org/wordprocessingml/2006/main" ns3:rtl="1">
              <a:defRPr sz="1700" b="0">
                <a:solidFill>
                  <a:srgbClr val="64748B"/>
                </a:solidFill>
                <a:latin typeface="Arial"/>
              </a:defRPr>
            </a:pPr>
            <a:r>
              <a:t>لوحة للقادة: headcount والحضور اليوم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rial"/>
              </a:defRPr>
            </a:pPr>
            <a:r>
              <a:t>صبّتا · عرض تنفيذي · 5/12 · يونيو 2026 · EN: ../en/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xmlns:ns0="http://schemas.openxmlformats.org/wordprocessingml/2006/main" ns0:rtl="1">
              <a:defRPr sz="2600" b="1">
                <a:solidFill>
                  <a:srgbClr val="0F172A"/>
                </a:solidFill>
                <a:latin typeface="Arial"/>
              </a:defRPr>
            </a:pPr>
            <a:r>
              <a:t>صبّتا Accounts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xmlns:ns1="http://schemas.openxmlformats.org/wordprocessingml/2006/main" ns1:rtl="1">
              <a:defRPr sz="1700" b="0">
                <a:solidFill>
                  <a:srgbClr val="64748B"/>
                </a:solidFill>
                <a:latin typeface="Arial"/>
              </a:defRPr>
            </a:pPr>
            <a:r>
              <a:t>فواتير، مشتريات، مخزون، بنك</a:t>
            </a:r>
          </a:p>
          <a:p>
            <a:pPr xmlns:ns2="http://schemas.openxmlformats.org/wordprocessingml/2006/main" ns2:rtl="1">
              <a:defRPr sz="1700" b="0">
                <a:solidFill>
                  <a:srgbClr val="64748B"/>
                </a:solidFill>
                <a:latin typeface="Arial"/>
              </a:defRPr>
            </a:pPr>
            <a:r>
              <a:t>GST، دفتر، Tally XML</a:t>
            </a:r>
          </a:p>
          <a:p>
            <a:pPr xmlns:ns3="http://schemas.openxmlformats.org/wordprocessingml/2006/main" ns3:rtl="1">
              <a:defRPr sz="1700" b="0">
                <a:solidFill>
                  <a:srgbClr val="64748B"/>
                </a:solidFill>
                <a:latin typeface="Arial"/>
              </a:defRPr>
            </a:pPr>
            <a:r>
              <a:t>Complete: قيود رواتب → مالية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rial"/>
              </a:defRPr>
            </a:pPr>
            <a:r>
              <a:t>صبّتا · عرض تنفيذي · 6/12 · يونيو 2026 · EN: ../en/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xmlns:ns0="http://schemas.openxmlformats.org/wordprocessingml/2006/main" ns0:rtl="1">
              <a:defRPr sz="2600" b="1">
                <a:solidFill>
                  <a:srgbClr val="0F172A"/>
                </a:solidFill>
                <a:latin typeface="Arial"/>
              </a:defRPr>
            </a:pPr>
            <a:r>
              <a:t>لماذا منصة موحدة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xmlns:ns1="http://schemas.openxmlformats.org/wordprocessingml/2006/main" ns1:rtl="1">
              <a:defRPr sz="1700" b="0">
                <a:solidFill>
                  <a:srgbClr val="64748B"/>
                </a:solidFill>
                <a:latin typeface="Arial"/>
              </a:defRPr>
            </a:pPr>
            <a:r>
              <a:t>headcount موثوق</a:t>
            </a:r>
          </a:p>
          <a:p>
            <a:pPr xmlns:ns2="http://schemas.openxmlformats.org/wordprocessingml/2006/main" ns2:rtl="1">
              <a:defRPr sz="1700" b="0">
                <a:solidFill>
                  <a:srgbClr val="64748B"/>
                </a:solidFill>
                <a:latin typeface="Arial"/>
              </a:defRPr>
            </a:pPr>
            <a:r>
              <a:t>نهاية شهر أسرع</a:t>
            </a:r>
          </a:p>
          <a:p>
            <a:pPr xmlns:ns3="http://schemas.openxmlformats.org/wordprocessingml/2006/main" ns3:rtl="1">
              <a:defRPr sz="1700" b="0">
                <a:solidFill>
                  <a:srgbClr val="64748B"/>
                </a:solidFill>
                <a:latin typeface="Arial"/>
              </a:defRPr>
            </a:pPr>
            <a:r>
              <a:t>مديرون self-service</a:t>
            </a:r>
          </a:p>
          <a:p>
            <a:pPr xmlns:ns4="http://schemas.openxmlformats.org/wordprocessingml/2006/main" ns4:rtl="1">
              <a:defRPr sz="1700" b="0">
                <a:solidFill>
                  <a:srgbClr val="64748B"/>
                </a:solidFill>
                <a:latin typeface="Arial"/>
              </a:defRPr>
            </a:pPr>
            <a:r>
              <a:t>50 موظف: 125$/شهر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rial"/>
              </a:defRPr>
            </a:pPr>
            <a:r>
              <a:t>صبّتا · عرض تنفيذي · 7/12 · يونيو 2026 · EN: ../en/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xmlns:ns0="http://schemas.openxmlformats.org/wordprocessingml/2006/main" ns0:rtl="1">
              <a:defRPr sz="2600" b="1">
                <a:solidFill>
                  <a:srgbClr val="0F172A"/>
                </a:solidFill>
                <a:latin typeface="Arial"/>
              </a:defRPr>
            </a:pPr>
            <a:r>
              <a:t>امتثال الهند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xmlns:ns1="http://schemas.openxmlformats.org/wordprocessingml/2006/main" ns1:rtl="1">
              <a:defRPr sz="1700" b="0">
                <a:solidFill>
                  <a:srgbClr val="64748B"/>
                </a:solidFill>
                <a:latin typeface="Arial"/>
              </a:defRPr>
            </a:pPr>
            <a:r>
              <a:t>PF · ESI · PT · TDS · Form 16 · gratuity</a:t>
            </a:r>
          </a:p>
          <a:p>
            <a:pPr xmlns:ns2="http://schemas.openxmlformats.org/wordprocessingml/2006/main" ns2:rtl="1">
              <a:defRPr sz="1700" b="0">
                <a:solidFill>
                  <a:srgbClr val="64748B"/>
                </a:solidFill>
                <a:latin typeface="Arial"/>
              </a:defRPr>
            </a:pPr>
            <a:r>
              <a:t>مراجعة → تشغيل → موافقة → قسائم</a:t>
            </a:r>
          </a:p>
          <a:p>
            <a:pPr xmlns:ns3="http://schemas.openxmlformats.org/wordprocessingml/2006/main" ns3:rtl="1">
              <a:defRPr sz="1700" b="0">
                <a:solidFill>
                  <a:srgbClr val="64748B"/>
                </a:solidFill>
                <a:latin typeface="Arial"/>
              </a:defRPr>
            </a:pPr>
            <a:r>
              <a:t>TDS مبسّط — CA يتحقق قبل 24Q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rial"/>
              </a:defRPr>
            </a:pPr>
            <a:r>
              <a:t>صبّتا · عرض تنفيذي · 8/12 · يونيو 2026 · EN: ../en/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xmlns:ns0="http://schemas.openxmlformats.org/wordprocessingml/2006/main" ns0:rtl="1">
              <a:defRPr sz="2600" b="1">
                <a:solidFill>
                  <a:srgbClr val="0F172A"/>
                </a:solidFill>
                <a:latin typeface="Arial"/>
              </a:defRPr>
            </a:pPr>
            <a:r>
              <a:t>الخليج والكويت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xmlns:ns1="http://schemas.openxmlformats.org/wordprocessingml/2006/main" ns1:rtl="1">
              <a:defRPr sz="1700" b="0">
                <a:solidFill>
                  <a:srgbClr val="64748B"/>
                </a:solidFill>
                <a:latin typeface="Arial"/>
              </a:defRPr>
            </a:pPr>
            <a:r>
              <a:t>KW / AE / SA من التسجيل</a:t>
            </a:r>
          </a:p>
          <a:p>
            <a:pPr xmlns:ns2="http://schemas.openxmlformats.org/wordprocessingml/2006/main" ns2:rtl="1">
              <a:defRPr sz="1700" b="0">
                <a:solidFill>
                  <a:srgbClr val="64748B"/>
                </a:solidFill>
                <a:latin typeface="Arial"/>
              </a:defRPr>
            </a:pPr>
            <a:r>
              <a:t>PIFSS، GOSI، indemnity، IBAN</a:t>
            </a:r>
          </a:p>
          <a:p>
            <a:pPr xmlns:ns3="http://schemas.openxmlformats.org/wordprocessingml/2006/main" ns3:rtl="1">
              <a:defRPr sz="1700" b="0">
                <a:solidFill>
                  <a:srgbClr val="64748B"/>
                </a:solidFill>
                <a:latin typeface="Arial"/>
              </a:defRPr>
            </a:pPr>
            <a:r>
              <a:t>تحقق مع مستشار محلي قبل التقديم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rial"/>
              </a:defRPr>
            </a:pPr>
            <a:r>
              <a:t>صبّتا · عرض تنفيذي · 9/12 · يونيو 2026 · EN: ../en/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xmlns:ns0="http://schemas.openxmlformats.org/wordprocessingml/2006/main" ns0:rtl="1">
              <a:defRPr sz="2600" b="1">
                <a:solidFill>
                  <a:srgbClr val="0F172A"/>
                </a:solidFill>
                <a:latin typeface="Arial"/>
              </a:defRPr>
            </a:pPr>
            <a:r>
              <a:t>نتائج 90 يوماً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xmlns:ns1="http://schemas.openxmlformats.org/wordprocessingml/2006/main" ns1:rtl="1">
              <a:defRPr sz="1700" b="0">
                <a:solidFill>
                  <a:srgbClr val="64748B"/>
                </a:solidFill>
                <a:latin typeface="Arial"/>
              </a:defRPr>
            </a:pPr>
            <a:r>
              <a:t>60% وقت أقل للرواتب</a:t>
            </a:r>
          </a:p>
          <a:p>
            <a:pPr xmlns:ns2="http://schemas.openxmlformats.org/wordprocessingml/2006/main" ns2:rtl="1">
              <a:defRPr sz="1700" b="0">
                <a:solidFill>
                  <a:srgbClr val="64748B"/>
                </a:solidFill>
                <a:latin typeface="Arial"/>
              </a:defRPr>
            </a:pPr>
            <a:r>
              <a:t>قسائم في نفس اليوم</a:t>
            </a:r>
          </a:p>
          <a:p>
            <a:pPr xmlns:ns3="http://schemas.openxmlformats.org/wordprocessingml/2006/main" ns3:rtl="1">
              <a:defRPr sz="1700" b="0">
                <a:solidFill>
                  <a:srgbClr val="64748B"/>
                </a:solidFill>
                <a:latin typeface="Arial"/>
              </a:defRPr>
            </a:pPr>
            <a:r>
              <a:t>صفر إعادة إدخال</a:t>
            </a:r>
          </a:p>
          <a:p>
            <a:pPr xmlns:ns4="http://schemas.openxmlformats.org/wordprocessingml/2006/main" ns4:rtl="1">
              <a:defRPr sz="1700" b="0">
                <a:solidFill>
                  <a:srgbClr val="64748B"/>
                </a:solidFill>
                <a:latin typeface="Arial"/>
              </a:defRPr>
            </a:pPr>
            <a:r>
              <a:t>سجل تدقيق كامل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rial"/>
              </a:defRPr>
            </a:pPr>
            <a:r>
              <a:t>صبّتا · عرض تنفيذي · 10/12 · يونيو 2026 · EN: ../en/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xmlns:ns0="http://schemas.openxmlformats.org/wordprocessingml/2006/main" ns0:rtl="1">
              <a:defRPr sz="2600" b="1">
                <a:solidFill>
                  <a:srgbClr val="0F172A"/>
                </a:solidFill>
                <a:latin typeface="Arial"/>
              </a:defRPr>
            </a:pPr>
            <a:r>
              <a:t>تسعير بسيط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xmlns:ns1="http://schemas.openxmlformats.org/wordprocessingml/2006/main" ns1:rtl="1">
              <a:defRPr sz="1700" b="0">
                <a:solidFill>
                  <a:srgbClr val="64748B"/>
                </a:solidFill>
                <a:latin typeface="Arial"/>
              </a:defRPr>
            </a:pPr>
            <a:r>
              <a:t>HRMS 59 · Accounts 59 · Complete 95</a:t>
            </a:r>
          </a:p>
          <a:p>
            <a:pPr xmlns:ns2="http://schemas.openxmlformats.org/wordprocessingml/2006/main" ns2:rtl="1">
              <a:defRPr sz="1700" b="0">
                <a:solidFill>
                  <a:srgbClr val="64748B"/>
                </a:solidFill>
                <a:latin typeface="Arial"/>
              </a:defRPr>
            </a:pPr>
            <a:r>
              <a:t>الهند: ₹7,999 + GST</a:t>
            </a:r>
          </a:p>
          <a:p>
            <a:pPr xmlns:ns3="http://schemas.openxmlformats.org/wordprocessingml/2006/main" ns3:rtl="1">
              <a:defRPr sz="1700" b="0">
                <a:solidFill>
                  <a:srgbClr val="64748B"/>
                </a:solidFill>
                <a:latin typeface="Arial"/>
              </a:defRPr>
            </a:pPr>
            <a:r>
              <a:t>أقل من ZenHR ~$150 HR-only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rial"/>
              </a:defRPr>
            </a:pPr>
            <a:r>
              <a:t>صبّتا · عرض تنفيذي · 11/12 · يونيو 2026 · EN: ../en/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xmlns:ns0="http://schemas.openxmlformats.org/wordprocessingml/2006/main" ns0:rtl="1">
              <a:defRPr sz="2600" b="1">
                <a:solidFill>
                  <a:srgbClr val="0F172A"/>
                </a:solidFill>
                <a:latin typeface="Arial"/>
              </a:defRPr>
            </a:pPr>
            <a:r>
              <a:t>الخطوة التالية: عرض 45 دقيقة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xmlns:ns1="http://schemas.openxmlformats.org/wordprocessingml/2006/main" ns1:rtl="1">
              <a:defRPr sz="1700" b="0">
                <a:solidFill>
                  <a:srgbClr val="64748B"/>
                </a:solidFill>
                <a:latin typeface="Arial"/>
              </a:defRPr>
            </a:pPr>
            <a:r>
              <a:t>1: اكتشاف — headcount وأدوات</a:t>
            </a:r>
          </a:p>
          <a:p>
            <a:pPr xmlns:ns2="http://schemas.openxmlformats.org/wordprocessingml/2006/main" ns2:rtl="1">
              <a:defRPr sz="1700" b="0">
                <a:solidFill>
                  <a:srgbClr val="64748B"/>
                </a:solidFill>
                <a:latin typeface="Arial"/>
              </a:defRPr>
            </a:pPr>
            <a:r>
              <a:t>2: عرض حي HR + Finance</a:t>
            </a:r>
          </a:p>
          <a:p>
            <a:pPr xmlns:ns3="http://schemas.openxmlformats.org/wordprocessingml/2006/main" ns3:rtl="1">
              <a:defRPr sz="1700" b="0">
                <a:solidFill>
                  <a:srgbClr val="64748B"/>
                </a:solidFill>
                <a:latin typeface="Arial"/>
              </a:defRPr>
            </a:pPr>
            <a:r>
              <a:t>3: تجربة خلال 24 ساعة</a:t>
            </a:r>
          </a:p>
          <a:p>
            <a:pPr xmlns:ns4="http://schemas.openxmlformats.org/wordprocessingml/2006/main" ns4:rtl="1">
              <a:defRPr sz="1700" b="0">
                <a:solidFill>
                  <a:srgbClr val="64748B"/>
                </a:solidFill>
                <a:latin typeface="Arial"/>
              </a:defRPr>
            </a:pPr>
            <a:r>
              <a:t>hello@saptta.com · saptta.com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rial"/>
              </a:defRPr>
            </a:pPr>
            <a:r>
              <a:t>صبّتا · عرض تنفيذي · 12/12 · يونيو 2026 · EN: ../en/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