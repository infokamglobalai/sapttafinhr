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097280"/>
            <a:ext cx="4572000" cy="45720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2194560" cy="320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418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93C5FD"/>
                </a:solidFill>
                <a:latin typeface="Segoe UI"/>
              </a:defRPr>
            </a:pPr>
            <a:r>
              <a:t>CLIENT SHOWCASE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9144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One platform for</a:t>
            </a:r>
            <a:br/>
            <a:r>
              <a:t>people &amp;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06324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Saptta HRMS + Saptta Accounts — workforce, payroll, and finance</a:t>
            </a:r>
            <a:br/>
            <a:r>
              <a:t>on a single login. Built for India. Ready for GCC.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16052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61688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2-in-1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7375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HR + Finance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416052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4361688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87375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Employees incl.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16052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361688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Segoe UI"/>
              </a:defRPr>
            </a:pPr>
            <a:r>
              <a:t>$95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87375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Complete / 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416052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361688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14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87375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Free trial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6539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Saptta  ·  Client Showcase  ·  1/11  ·  saptta.com  ·  hello@saptta.com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Saptta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713232"/>
            <a:ext cx="14630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731520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Segoe UI"/>
              </a:defRPr>
            </a:pPr>
            <a:r>
              <a:t>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The problem every growing company faces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54864" cy="3474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5074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Without Saptta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✗  HR and Finance use different tools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✗  Payroll re-keyed into accounting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✗  Leave ≠ attendance in reports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✗  Managers email HR for approvals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✗  No audit trail on sensitive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6596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965960"/>
            <a:ext cx="54864" cy="3474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103120"/>
            <a:ext cx="5074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With Saptta Complete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✓  One employee record — one truth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✓  Attendance → payroll → payslip flow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✓  Manager &amp; employee self-service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✓  PF, GST, Tally exports built-in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✓  Encrypted PII + role-based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532120"/>
            <a:ext cx="11155680" cy="50292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59612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D4ED8"/>
                </a:solidFill>
                <a:latin typeface="Segoe UI"/>
              </a:defRPr>
            </a:pPr>
            <a:r>
              <a:t>CEO insight: the hidden cost is leadership time reconciling two versions of your own company.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6539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Saptta  ·  Client Showcase  ·  2/11  ·  saptta.com  ·  hello@saptta.com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Saptta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713232"/>
            <a:ext cx="14630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731520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Segoe UI"/>
              </a:defRPr>
            </a:pPr>
            <a:r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Two products. One platform.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54864" cy="3200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Saptta HRMS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$59/mo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Payroll &amp; statutory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Leave &amp; attendance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Recruitment &amp; performance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Manager + employee 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1168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011680"/>
            <a:ext cx="54864" cy="320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Saptta Accounts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$59/mo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Invoicing &amp; GST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Ledger &amp; bank rec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Inventory &amp; purchases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Unlimited finance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01168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011680"/>
            <a:ext cx="54864" cy="3200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14884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Saptta Complete ★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$95/mo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Everything in HRMS + Accounts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20% savings vs separate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30 employees included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Recommended for owners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4068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Sign up  →  Product switcher  →  HR workspace  ↔  Finance workspace  →  Single SSO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6539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Saptta  ·  Client Showcase  ·  3/11  ·  saptta.com  ·  hello@saptta.com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" name="Picture 8" descr="02-swit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65960"/>
            <a:ext cx="5669280" cy="403407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502920" y="320040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Saptta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713232"/>
            <a:ext cx="14630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731520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Segoe UI"/>
              </a:defRPr>
            </a:pPr>
            <a:r>
              <a:t>LIVE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One login. Two products.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80176" y="1911096"/>
            <a:ext cx="5779008" cy="414379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5669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Product switcher — HR &amp; 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0F172A"/>
                </a:solidFill>
                <a:latin typeface="Segoe UI"/>
              </a:defRPr>
            </a:pPr>
            <a:r>
              <a:t>•  Unified platform login</a:t>
            </a:r>
          </a:p>
          <a:p>
            <a:pPr>
              <a:spcAft>
                <a:spcPts val="1000"/>
              </a:spcAft>
              <a:defRPr sz="1300" b="0">
                <a:solidFill>
                  <a:srgbClr val="64748B"/>
                </a:solidFill>
                <a:latin typeface="Segoe UI"/>
              </a:defRPr>
            </a:pPr>
            <a:r>
              <a:t>•  Switch HR ↔ Finance instantly</a:t>
            </a:r>
          </a:p>
          <a:p>
            <a:pPr>
              <a:spcAft>
                <a:spcPts val="1000"/>
              </a:spcAft>
              <a:defRPr sz="1300" b="0">
                <a:solidFill>
                  <a:srgbClr val="64748B"/>
                </a:solidFill>
                <a:latin typeface="Segoe UI"/>
              </a:defRPr>
            </a:pPr>
            <a:r>
              <a:t>•  Same workspace, same users</a:t>
            </a:r>
          </a:p>
          <a:p>
            <a:pPr>
              <a:spcAft>
                <a:spcPts val="1000"/>
              </a:spcAft>
              <a:defRPr sz="1300" b="0">
                <a:solidFill>
                  <a:srgbClr val="64748B"/>
                </a:solidFill>
                <a:latin typeface="Segoe UI"/>
              </a:defRPr>
            </a:pPr>
            <a:r>
              <a:t>•  No duplicate employee master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6539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Saptta  ·  Client Showcase  ·  4/11  ·  saptta.com  ·  hello@saptta.com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" name="Picture 8" descr="04-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65960"/>
            <a:ext cx="5669280" cy="5092391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502920" y="320040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Saptta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713232"/>
            <a:ext cx="14630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731520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Segoe UI"/>
              </a:defRPr>
            </a:pPr>
            <a:r>
              <a:t>SAPTTA HRMS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HR dashboard built for leaders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80176" y="1911096"/>
            <a:ext cx="5779008" cy="52021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5669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Headcount, attendance, priorities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0F172A"/>
                </a:solidFill>
                <a:latin typeface="Segoe UI"/>
              </a:defRPr>
            </a:pPr>
            <a:r>
              <a:t>•  Today's present / absent panel</a:t>
            </a:r>
          </a:p>
          <a:p>
            <a:pPr>
              <a:spcAft>
                <a:spcPts val="1000"/>
              </a:spcAft>
              <a:defRPr sz="1300" b="0">
                <a:solidFill>
                  <a:srgbClr val="64748B"/>
                </a:solidFill>
                <a:latin typeface="Segoe UI"/>
              </a:defRPr>
            </a:pPr>
            <a:r>
              <a:t>•  Pending leave &amp; payroll actions</a:t>
            </a:r>
          </a:p>
          <a:p>
            <a:pPr>
              <a:spcAft>
                <a:spcPts val="1000"/>
              </a:spcAft>
              <a:defRPr sz="1300" b="0">
                <a:solidFill>
                  <a:srgbClr val="64748B"/>
                </a:solidFill>
                <a:latin typeface="Segoe UI"/>
              </a:defRPr>
            </a:pPr>
            <a:r>
              <a:t>•  22+ employees demo-ready</a:t>
            </a:r>
          </a:p>
          <a:p>
            <a:pPr>
              <a:spcAft>
                <a:spcPts val="1000"/>
              </a:spcAft>
              <a:defRPr sz="1300" b="0">
                <a:solidFill>
                  <a:srgbClr val="64748B"/>
                </a:solidFill>
                <a:latin typeface="Segoe UI"/>
              </a:defRPr>
            </a:pPr>
            <a:r>
              <a:t>•  Manager &amp; employee 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6539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Saptta  ·  Client Showcase  ·  5/11  ·  saptta.com  ·  hello@saptta.com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" name="Picture 8" descr="03-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65960"/>
            <a:ext cx="5669280" cy="6325024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502920" y="320040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Saptta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713232"/>
            <a:ext cx="14630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731520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Segoe UI"/>
              </a:defRPr>
            </a:pPr>
            <a:r>
              <a:t>SAPTTA 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Finance your CA will 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80176" y="1911096"/>
            <a:ext cx="5779008" cy="64347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5669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Invoicing, ledger, GST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0F172A"/>
                </a:solidFill>
                <a:latin typeface="Segoe UI"/>
              </a:defRPr>
            </a:pPr>
            <a:r>
              <a:t>•  Full accounting workspace</a:t>
            </a:r>
          </a:p>
          <a:p>
            <a:pPr>
              <a:spcAft>
                <a:spcPts val="1000"/>
              </a:spcAft>
              <a:defRPr sz="1300" b="0">
                <a:solidFill>
                  <a:srgbClr val="64748B"/>
                </a:solidFill>
                <a:latin typeface="Segoe UI"/>
              </a:defRPr>
            </a:pPr>
            <a:r>
              <a:t>•  GST-ready compliance</a:t>
            </a:r>
          </a:p>
          <a:p>
            <a:pPr>
              <a:spcAft>
                <a:spcPts val="1000"/>
              </a:spcAft>
              <a:defRPr sz="1300" b="0">
                <a:solidFill>
                  <a:srgbClr val="64748B"/>
                </a:solidFill>
                <a:latin typeface="Segoe UI"/>
              </a:defRPr>
            </a:pPr>
            <a:r>
              <a:t>•  Tally XML export</a:t>
            </a:r>
          </a:p>
          <a:p>
            <a:pPr>
              <a:spcAft>
                <a:spcPts val="1000"/>
              </a:spcAft>
              <a:defRPr sz="1300" b="0">
                <a:solidFill>
                  <a:srgbClr val="64748B"/>
                </a:solidFill>
                <a:latin typeface="Segoe UI"/>
              </a:defRPr>
            </a:pPr>
            <a:r>
              <a:t>•  Unlimited finance users (flat fee)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6539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Saptta  ·  Client Showcase  ·  6/11  ·  saptta.com  ·  hello@saptta.com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Saptta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713232"/>
            <a:ext cx="14630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731520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Segoe UI"/>
              </a:defRPr>
            </a:pPr>
            <a:r>
              <a:t>HRMS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Hire to retire — full HR lifecycle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54864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Recruit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ATS, careers, AI rank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96596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965960"/>
            <a:ext cx="54864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10312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Onboard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Checklists, documents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96596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965960"/>
            <a:ext cx="54864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10312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Operate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Attendance, leave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96596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965960"/>
            <a:ext cx="54864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10312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Pay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Run, payslip, bank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57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657600"/>
            <a:ext cx="54864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79476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Grow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Performance reviews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3657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37560" y="3657600"/>
            <a:ext cx="54864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379476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Comply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Letters, policies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657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657600"/>
            <a:ext cx="54864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79476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Engage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ESS portal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3657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3657600"/>
            <a:ext cx="54864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379476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Exit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Settlement, revoke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56539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Saptta  ·  Client Showcase  ·  7/11  ·  saptta.com  ·  hello@saptta.com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Saptta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713232"/>
            <a:ext cx="14630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731520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Segoe UI"/>
              </a:defRPr>
            </a:pPr>
            <a:r>
              <a:t>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Compliance built for real businesses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38404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54864" cy="3840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5074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India (production-ready)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PF ECR · ESI · PT · TDS · Form 16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Gratuity accrual + exit estimate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Salary register · Bank advice · Tally XML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Pre-payroll review → approve → publish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65960"/>
            <a:ext cx="53949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965960"/>
            <a:ext cx="54864" cy="3840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103120"/>
            <a:ext cx="5074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GCC &amp; Kuwait (demo-ready MVP)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KW · AE · SA jurisdiction signup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PIFSS · GOSI · indemnity accrual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IBAN · WPS-style exports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Validate rates with local consultant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6539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Saptta  ·  Client Showcase  ·  8/11  ·  saptta.com  ·  hello@saptta.com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Saptta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713232"/>
            <a:ext cx="14630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731520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Segoe UI"/>
              </a:defRPr>
            </a:pPr>
            <a:r>
              <a:t>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Simple pricing — beat HR-only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965960"/>
          <a:ext cx="6858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USD / mo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India INR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$59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₹4,999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HR team replacing legacy HR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$59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₹4,999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Finance + CA workflow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Complete ★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$95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₹7,999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Owners wanting one platform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35240" y="1965960"/>
            <a:ext cx="4023360" cy="20116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1965960"/>
            <a:ext cx="54864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103120"/>
            <a:ext cx="3703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At 30 employees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Saptta Complete: $95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Keka HR only: ~₹9,999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ZenHR GCC: ~$150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You save 20%+ vs separate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416052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4361688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87375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emp → $125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416052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4361688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487375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emp → $200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78440" y="416052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4361688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+30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440" y="487375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+$1.50/emp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6539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Saptta  ·  Client Showcase  ·  9/11  ·  saptta.com  ·  hello@saptta.com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Saptta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713232"/>
            <a:ext cx="14630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731520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Segoe UI"/>
              </a:defRPr>
            </a:pPr>
            <a:r>
              <a:t>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Results company heads see in 90 days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5568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Segoe UI"/>
              </a:defRPr>
            </a:pPr>
            <a: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Less payroll prep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10312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304288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Same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81635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Payslip publish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0312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304288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81635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Spreadsheet re-key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10312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304288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81635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Audit on changes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5760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657600"/>
            <a:ext cx="54864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794760"/>
            <a:ext cx="5074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CHRO wins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Manager leave approvals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Recruitment pipeline visible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Compliance expiry alerts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65760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657600"/>
            <a:ext cx="54864" cy="2103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794760"/>
            <a:ext cx="5074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CFO wins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Payroll cost in finance view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GST + ledger same platform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Export-ready for 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6539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Saptta  ·  Client Showcase  ·  10/11  ·  saptta.com  ·  hello@saptta.com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See your company on Saptta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1488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3C5FD"/>
                </a:solidFill>
                <a:latin typeface="Segoe UI"/>
              </a:defRPr>
            </a:pPr>
            <a:r>
              <a:t>45-minute live demo on your scenarios · Trial workspace in 24 hours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926080"/>
            <a:ext cx="3383280" cy="1508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03580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2044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Headcount, tools, pain 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926080"/>
            <a:ext cx="3383280" cy="1508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306324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03580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52044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HR + Finance, one login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926080"/>
            <a:ext cx="3383280" cy="1508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06324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03580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52044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Your team tests in 24h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hello@saptta.com  ·  saptta.com  ·  14-day free trial  ·  Free Complete setup (launch offer)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6539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Saptta  ·  Client Showcase  ·  11/11  ·  saptta.com  ·  hello@saptta.com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